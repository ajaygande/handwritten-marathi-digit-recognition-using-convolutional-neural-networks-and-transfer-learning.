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41" r:id="rId5"/>
    <p:sldId id="326" r:id="rId6"/>
    <p:sldId id="261" r:id="rId7"/>
    <p:sldId id="263" r:id="rId8"/>
    <p:sldId id="259" r:id="rId9"/>
    <p:sldId id="264" r:id="rId10"/>
    <p:sldId id="265" r:id="rId11"/>
    <p:sldId id="342" r:id="rId12"/>
    <p:sldId id="266" r:id="rId13"/>
    <p:sldId id="257" r:id="rId14"/>
    <p:sldId id="343" r:id="rId15"/>
    <p:sldId id="34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5F8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0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5/16/2026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ajaygande1@gmail.com" TargetMode="External"/><Relationship Id="rId2" Type="http://schemas.openxmlformats.org/officeDocument/2006/relationships/hyperlink" Target="https://github.com/ajaygande/Handwritten-Marathi-Digit-Recognition-using-Convolutional-Neural-Networks-and-Transfer-Learning./blob/main/Handwritten_Marathi_Digits_CNN_Portfolio.ipynb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hyperlink" Target="https://github.com/ajaygan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B721B6-2B6D-B562-91F3-577BE37B1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C17044-64E2-9C16-4371-797409834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419" y="994041"/>
            <a:ext cx="10717161" cy="105156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3200" cap="none" dirty="0"/>
              <a:t>Handwritten Marathi Digit Recognition Using CNN And Transfer Learning With MobileNetV2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3B41803-2E89-21A0-88FA-077C01E84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0906" y="4812400"/>
            <a:ext cx="7048500" cy="647454"/>
          </a:xfrm>
        </p:spPr>
        <p:txBody>
          <a:bodyPr vert="horz" lIns="0" tIns="0" rIns="0" bIns="0" rtlCol="0" anchor="t">
            <a:noAutofit/>
          </a:bodyPr>
          <a:lstStyle/>
          <a:p>
            <a:pPr algn="l"/>
            <a:r>
              <a:rPr lang="en-US" sz="2000" dirty="0">
                <a:latin typeface="Aptos Display" panose="020B0004020202020204" pitchFamily="34" charset="0"/>
              </a:rPr>
              <a:t>|| Ajay Sudhakar Gande || J</a:t>
            </a:r>
            <a:r>
              <a:rPr lang="mr-IN" sz="2000" dirty="0">
                <a:latin typeface="Aptos Display" panose="020B0004020202020204" pitchFamily="34" charset="0"/>
              </a:rPr>
              <a:t>०२४१००१</a:t>
            </a:r>
            <a:r>
              <a:rPr lang="en-US" sz="2000" dirty="0">
                <a:latin typeface="Aptos Display" panose="020B0004020202020204" pitchFamily="34" charset="0"/>
              </a:rPr>
              <a:t> || M.Sc. Data Science ||</a:t>
            </a:r>
          </a:p>
        </p:txBody>
      </p:sp>
      <p:pic>
        <p:nvPicPr>
          <p:cNvPr id="2057" name="Picture 9" descr="27,957 Devanagari Digits Stock Vectors and Vector Art | Shutterstock">
            <a:extLst>
              <a:ext uri="{FF2B5EF4-FFF2-40B4-BE49-F238E27FC236}">
                <a16:creationId xmlns:a16="http://schemas.microsoft.com/office/drawing/2014/main" id="{E7125EC1-1EDC-FEB5-9D7A-76609BC85D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29" b="19979"/>
          <a:stretch>
            <a:fillRect/>
          </a:stretch>
        </p:blipFill>
        <p:spPr bwMode="auto">
          <a:xfrm>
            <a:off x="3390900" y="2383093"/>
            <a:ext cx="5715000" cy="142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74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170038"/>
            <a:ext cx="5582755" cy="2121801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59" y="2240280"/>
            <a:ext cx="5582757" cy="3977640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Marathi is spoken by 83+ million people</a:t>
            </a:r>
          </a:p>
          <a:p>
            <a:r>
              <a:rPr lang="en-US" dirty="0"/>
              <a:t>Very few OCR systems support Marathi script</a:t>
            </a:r>
          </a:p>
          <a:p>
            <a:r>
              <a:rPr lang="en-US" dirty="0"/>
              <a:t>Manual digit recognition is slow and error-prone</a:t>
            </a:r>
          </a:p>
          <a:p>
            <a:r>
              <a:rPr lang="en-US" dirty="0"/>
              <a:t>Goal: Build an automated classifier for handwritten Marathi digits (</a:t>
            </a:r>
            <a:r>
              <a:rPr lang="mr-IN" dirty="0"/>
              <a:t>०–९)</a:t>
            </a:r>
            <a:endParaRPr lang="en-US" dirty="0"/>
          </a:p>
        </p:txBody>
      </p:sp>
      <p:pic>
        <p:nvPicPr>
          <p:cNvPr id="1028" name="Picture 4" descr="Download Problem Statement Icon Png - Problem Png PNG Image with No  Background - PNGkey.com">
            <a:extLst>
              <a:ext uri="{FF2B5EF4-FFF2-40B4-BE49-F238E27FC236}">
                <a16:creationId xmlns:a16="http://schemas.microsoft.com/office/drawing/2014/main" id="{C08E0C45-097F-8554-5702-55BEE76FB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746" y="1730478"/>
            <a:ext cx="4565959" cy="371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Dataset Icons - Free SVG &amp; PNG Dataset Images - Noun Project">
            <a:extLst>
              <a:ext uri="{FF2B5EF4-FFF2-40B4-BE49-F238E27FC236}">
                <a16:creationId xmlns:a16="http://schemas.microsoft.com/office/drawing/2014/main" id="{6197415D-EB7D-8BBF-5CFD-FE80983AC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7725" y="2011680"/>
            <a:ext cx="4895235" cy="489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IN" dirty="0"/>
              <a:t>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2821858"/>
            <a:ext cx="6217920" cy="3350342"/>
          </a:xfrm>
          <a:noFill/>
        </p:spPr>
        <p:txBody>
          <a:bodyPr/>
          <a:lstStyle/>
          <a:p>
            <a:r>
              <a:rPr lang="en-US" dirty="0"/>
              <a:t>Source: Kaggle — Handwritten Marathi Devanagari Characters</a:t>
            </a:r>
          </a:p>
          <a:p>
            <a:r>
              <a:rPr lang="en-US" dirty="0"/>
              <a:t>1,000 images | 10 classes (one per digit)</a:t>
            </a:r>
          </a:p>
          <a:p>
            <a:r>
              <a:rPr lang="en-US" dirty="0"/>
              <a:t>100 images per class, 1600×1600 </a:t>
            </a:r>
            <a:r>
              <a:rPr lang="en-US" dirty="0" err="1"/>
              <a:t>px</a:t>
            </a:r>
            <a:r>
              <a:rPr lang="en-US" dirty="0"/>
              <a:t> JPEG</a:t>
            </a:r>
          </a:p>
          <a:p>
            <a:r>
              <a:rPr lang="en-US" dirty="0"/>
              <a:t>Split: 80% Train (800) / 20% Validation (200)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B105414-452C-F923-21A5-CA982447D7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5188" b="15188"/>
          <a:stretch/>
        </p:blipFill>
        <p:spPr>
          <a:xfrm>
            <a:off x="1839196" y="1828800"/>
            <a:ext cx="3200400" cy="32004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831" y="3611833"/>
            <a:ext cx="5029200" cy="1828800"/>
          </a:xfrm>
          <a:noFill/>
        </p:spPr>
        <p:txBody>
          <a:bodyPr/>
          <a:lstStyle/>
          <a:p>
            <a:r>
              <a:rPr lang="en-IN" dirty="0"/>
              <a:t>Image Preprocessing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Grayscale Conversion</a:t>
            </a:r>
          </a:p>
          <a:p>
            <a:r>
              <a:rPr lang="en-US" dirty="0"/>
              <a:t>Adaptive Thresholding (binary image)</a:t>
            </a:r>
          </a:p>
          <a:p>
            <a:r>
              <a:rPr lang="en-US" dirty="0"/>
              <a:t>Morphological Denoising</a:t>
            </a:r>
          </a:p>
          <a:p>
            <a:r>
              <a:rPr lang="en-US" dirty="0"/>
              <a:t>Connected Component Analysis (keep largest blob = digit)</a:t>
            </a:r>
          </a:p>
          <a:p>
            <a:r>
              <a:rPr lang="en-US" dirty="0"/>
              <a:t>Bounding Box Crop + Resize to 96×96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D8BC873-D872-8661-DE38-88ACE3ED5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92" b="19315"/>
          <a:stretch>
            <a:fillRect/>
          </a:stretch>
        </p:blipFill>
        <p:spPr>
          <a:xfrm>
            <a:off x="0" y="869616"/>
            <a:ext cx="6695025" cy="214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0"/>
            <a:ext cx="10515600" cy="1937446"/>
          </a:xfrm>
          <a:noFill/>
        </p:spPr>
        <p:txBody>
          <a:bodyPr anchor="ctr" anchorCtr="0">
            <a:noAutofit/>
          </a:bodyPr>
          <a:lstStyle/>
          <a:p>
            <a:r>
              <a:rPr lang="en-IN" dirty="0"/>
              <a:t>Model Architecture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3678" y="1920830"/>
            <a:ext cx="5129956" cy="3895345"/>
          </a:xfrm>
          <a:noFill/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Backbone: MobileNetV2 (pretrained on ImageNet)❄️ Frozen in Phase 1 | 2,257,984 parameters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800" dirty="0"/>
              <a:t>Custom Classification Head (trained from scratch)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1800" dirty="0"/>
              <a:t>Parameter Summary</a:t>
            </a:r>
            <a:br>
              <a:rPr lang="en-IN" sz="1800" dirty="0"/>
            </a:br>
            <a:br>
              <a:rPr lang="en-US" sz="1800" dirty="0"/>
            </a:b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F5AA90-34DA-39A4-C762-330E0002C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315" y="2517549"/>
            <a:ext cx="5809298" cy="2998347"/>
          </a:xfrm>
          <a:prstGeom prst="rect">
            <a:avLst/>
          </a:prstGeom>
        </p:spPr>
      </p:pic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AD52C49-1858-553F-E29A-1357D04DA9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315237"/>
              </p:ext>
            </p:extLst>
          </p:nvPr>
        </p:nvGraphicFramePr>
        <p:xfrm>
          <a:off x="940978" y="2904943"/>
          <a:ext cx="4908757" cy="1637560"/>
        </p:xfrm>
        <a:graphic>
          <a:graphicData uri="http://schemas.openxmlformats.org/drawingml/2006/table">
            <a:tbl>
              <a:tblPr/>
              <a:tblGrid>
                <a:gridCol w="2022987">
                  <a:extLst>
                    <a:ext uri="{9D8B030D-6E8A-4147-A177-3AD203B41FA5}">
                      <a16:colId xmlns:a16="http://schemas.microsoft.com/office/drawing/2014/main" val="3746548344"/>
                    </a:ext>
                  </a:extLst>
                </a:gridCol>
                <a:gridCol w="2885770">
                  <a:extLst>
                    <a:ext uri="{9D8B030D-6E8A-4147-A177-3AD203B41FA5}">
                      <a16:colId xmlns:a16="http://schemas.microsoft.com/office/drawing/2014/main" val="1916474426"/>
                    </a:ext>
                  </a:extLst>
                </a:gridCol>
              </a:tblGrid>
              <a:tr h="32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96199"/>
                  </a:ext>
                </a:extLst>
              </a:tr>
              <a:tr h="32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GlobalAveragePooling2D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Converts feature maps → 1D vector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23372"/>
                  </a:ext>
                </a:extLst>
              </a:tr>
              <a:tr h="32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Dense (128, ReLU)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Learns digit-specific patterns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1175927"/>
                  </a:ext>
                </a:extLst>
              </a:tr>
              <a:tr h="32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Dropout (0.4)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Prevents overfitting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064600"/>
                  </a:ext>
                </a:extLst>
              </a:tr>
              <a:tr h="3275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Dense (10, Softmax)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Outputs </a:t>
                      </a:r>
                      <a:r>
                        <a:rPr lang="mr-IN" sz="1400" dirty="0"/>
                        <a:t>०–९ </a:t>
                      </a:r>
                      <a:r>
                        <a:rPr lang="en-IN" sz="1400" dirty="0"/>
                        <a:t>probability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79340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108C569-9A7B-2088-2857-80A8A1F1C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94087"/>
              </p:ext>
            </p:extLst>
          </p:nvPr>
        </p:nvGraphicFramePr>
        <p:xfrm>
          <a:off x="940978" y="4542503"/>
          <a:ext cx="3025264" cy="1463040"/>
        </p:xfrm>
        <a:graphic>
          <a:graphicData uri="http://schemas.openxmlformats.org/drawingml/2006/table">
            <a:tbl>
              <a:tblPr/>
              <a:tblGrid>
                <a:gridCol w="2020247">
                  <a:extLst>
                    <a:ext uri="{9D8B030D-6E8A-4147-A177-3AD203B41FA5}">
                      <a16:colId xmlns:a16="http://schemas.microsoft.com/office/drawing/2014/main" val="2698545959"/>
                    </a:ext>
                  </a:extLst>
                </a:gridCol>
                <a:gridCol w="1005017">
                  <a:extLst>
                    <a:ext uri="{9D8B030D-6E8A-4147-A177-3AD203B41FA5}">
                      <a16:colId xmlns:a16="http://schemas.microsoft.com/office/drawing/2014/main" val="36817198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13286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 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2,423,242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6065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Trainable (Head only)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165,258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4088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Frozen (Backbone)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2,257,984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334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515210"/>
          </a:xfrm>
          <a:noFill/>
        </p:spPr>
        <p:txBody>
          <a:bodyPr anchor="t" anchorCtr="0"/>
          <a:lstStyle/>
          <a:p>
            <a:r>
              <a:rPr lang="en-IN" dirty="0"/>
              <a:t>Two-Phase Training Strategy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295834"/>
            <a:ext cx="4663440" cy="2711736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r>
              <a:rPr lang="en-IN" dirty="0"/>
              <a:t>Phase 1 — Feature Extraction</a:t>
            </a:r>
            <a:br>
              <a:rPr lang="en-IN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/>
          </p:cNvSpPr>
          <p:nvPr>
            <p:ph sz="half" idx="2"/>
          </p:nvPr>
        </p:nvSpPr>
        <p:spPr>
          <a:xfrm>
            <a:off x="6248401" y="2295834"/>
            <a:ext cx="4792755" cy="2711736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IN" dirty="0"/>
              <a:t>Phase 2 — Fine Tuning</a:t>
            </a:r>
            <a:br>
              <a:rPr lang="en-IN" dirty="0"/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AC80F4-3289-4D0D-2059-CDA6068F2E3E}"/>
              </a:ext>
            </a:extLst>
          </p:cNvPr>
          <p:cNvSpPr txBox="1"/>
          <p:nvPr/>
        </p:nvSpPr>
        <p:spPr>
          <a:xfrm>
            <a:off x="1280159" y="1656877"/>
            <a:ext cx="9043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Two Phases?</a:t>
            </a:r>
            <a:r>
              <a:rPr lang="en-US" dirty="0"/>
              <a:t> Only 80 training images per class — too few to train from scratch.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365442-1234-EE1F-14F8-DA957E2611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993973"/>
              </p:ext>
            </p:extLst>
          </p:nvPr>
        </p:nvGraphicFramePr>
        <p:xfrm>
          <a:off x="1850676" y="3025385"/>
          <a:ext cx="3522406" cy="18288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761203">
                  <a:extLst>
                    <a:ext uri="{9D8B030D-6E8A-4147-A177-3AD203B41FA5}">
                      <a16:colId xmlns:a16="http://schemas.microsoft.com/office/drawing/2014/main" val="3718482551"/>
                    </a:ext>
                  </a:extLst>
                </a:gridCol>
                <a:gridCol w="1761203">
                  <a:extLst>
                    <a:ext uri="{9D8B030D-6E8A-4147-A177-3AD203B41FA5}">
                      <a16:colId xmlns:a16="http://schemas.microsoft.com/office/drawing/2014/main" val="238618257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Backbone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❄️ Frozen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65233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Trained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Custom Head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7310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0.001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22097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15 (early stopped)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7758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Best Val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93%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3569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53EC7F-9D66-61A8-0BC2-1C7418719A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8361826"/>
              </p:ext>
            </p:extLst>
          </p:nvPr>
        </p:nvGraphicFramePr>
        <p:xfrm>
          <a:off x="6453695" y="3025385"/>
          <a:ext cx="4382166" cy="167640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191083">
                  <a:extLst>
                    <a:ext uri="{9D8B030D-6E8A-4147-A177-3AD203B41FA5}">
                      <a16:colId xmlns:a16="http://schemas.microsoft.com/office/drawing/2014/main" val="1572513613"/>
                    </a:ext>
                  </a:extLst>
                </a:gridCol>
                <a:gridCol w="2191083">
                  <a:extLst>
                    <a:ext uri="{9D8B030D-6E8A-4147-A177-3AD203B41FA5}">
                      <a16:colId xmlns:a16="http://schemas.microsoft.com/office/drawing/2014/main" val="307329685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Backbone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🔥 Last 30 layers unfrozen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4258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Learning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0.00001 (100× smaller)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55261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Epochs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5 (early stopped)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36990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Best Val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91%</a:t>
                      </a:r>
                      <a:endParaRPr lang="en-IN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8142095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ACB49D-23DB-6530-10AB-16C1A7CAAF77}"/>
              </a:ext>
            </a:extLst>
          </p:cNvPr>
          <p:cNvSpPr txBox="1">
            <a:spLocks/>
          </p:cNvSpPr>
          <p:nvPr/>
        </p:nvSpPr>
        <p:spPr>
          <a:xfrm>
            <a:off x="1280160" y="5277195"/>
            <a:ext cx="9791476" cy="11531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Data Augmentation Applied in Both Phases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-	Rotation ±10°	-	Width &amp; Height shift 10%	- 	Zoom 10%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1038736"/>
            <a:ext cx="5029200" cy="1828800"/>
          </a:xfrm>
          <a:noFill/>
        </p:spPr>
        <p:txBody>
          <a:bodyPr anchor="t" anchorCtr="0"/>
          <a:lstStyle/>
          <a:p>
            <a:r>
              <a:rPr lang="en-IN" dirty="0"/>
              <a:t>Results</a:t>
            </a:r>
            <a:endParaRPr lang="en-US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32F155E0-3ABA-EBD9-715F-A91E986E4F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9900822"/>
              </p:ext>
            </p:extLst>
          </p:nvPr>
        </p:nvGraphicFramePr>
        <p:xfrm>
          <a:off x="2766282" y="2433073"/>
          <a:ext cx="6659436" cy="265020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329718">
                  <a:extLst>
                    <a:ext uri="{9D8B030D-6E8A-4147-A177-3AD203B41FA5}">
                      <a16:colId xmlns:a16="http://schemas.microsoft.com/office/drawing/2014/main" val="2597726774"/>
                    </a:ext>
                  </a:extLst>
                </a:gridCol>
                <a:gridCol w="3329718">
                  <a:extLst>
                    <a:ext uri="{9D8B030D-6E8A-4147-A177-3AD203B41FA5}">
                      <a16:colId xmlns:a16="http://schemas.microsoft.com/office/drawing/2014/main" val="496461881"/>
                    </a:ext>
                  </a:extLst>
                </a:gridCol>
              </a:tblGrid>
              <a:tr h="53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3873460"/>
                  </a:ext>
                </a:extLst>
              </a:tr>
              <a:tr h="53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Overall Validation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b="1"/>
                        <a:t>91%</a:t>
                      </a:r>
                      <a:endParaRPr lang="en-I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898284"/>
                  </a:ext>
                </a:extLst>
              </a:tr>
              <a:tr h="53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Best 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mr-IN" sz="2400" dirty="0"/>
                        <a:t>०, ४, ५, ८ — 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040985"/>
                  </a:ext>
                </a:extLst>
              </a:tr>
              <a:tr h="53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/>
                        <a:t>Hardest 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mr-IN" sz="2400"/>
                        <a:t>६ — 60%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790429"/>
                  </a:ext>
                </a:extLst>
              </a:tr>
              <a:tr h="5300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Total Parameters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400" dirty="0"/>
                        <a:t>2,423,242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025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FF7C3-4FBD-285C-315E-4D959A459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AE5B9-817B-8E8C-EA17-B03523C33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341" y="1245213"/>
            <a:ext cx="4286863" cy="1828800"/>
          </a:xfrm>
          <a:noFill/>
        </p:spPr>
        <p:txBody>
          <a:bodyPr anchor="t" anchorCtr="0"/>
          <a:lstStyle/>
          <a:p>
            <a:r>
              <a:rPr lang="en-IN" dirty="0"/>
              <a:t>Confusion Matrix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4CA8DEE6-B89C-EE62-4667-33F3980E15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538204" y="635923"/>
            <a:ext cx="6228851" cy="5450246"/>
          </a:xfrm>
          <a:prstGeom prst="rect">
            <a:avLst/>
          </a:prstGeom>
          <a:noFill/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4F32E86-943F-E47E-4771-007A7A9EC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724" y="3122268"/>
            <a:ext cx="437535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Most errors: 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  <a:cs typeface="Mangal" panose="02040503050203030202" pitchFamily="18" charset="0"/>
              </a:rPr>
              <a:t>९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misclassified as 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  <a:cs typeface="Mangal" panose="02040503050203030202" pitchFamily="18" charset="0"/>
              </a:rPr>
              <a:t>१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or </a:t>
            </a:r>
            <a:r>
              <a:rPr kumimoji="0" lang="hi-I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  <a:cs typeface="Mangal" panose="02040503050203030202" pitchFamily="18" charset="0"/>
              </a:rPr>
              <a:t>२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aytona Condensed Light (Body)"/>
              <a:cs typeface="Mangal" panose="02040503050203030202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aytona Condensed Light (Body)"/>
              </a:rPr>
              <a:t>Visual similarity between certain Marathi digits causes confusion </a:t>
            </a:r>
          </a:p>
        </p:txBody>
      </p:sp>
    </p:spTree>
    <p:extLst>
      <p:ext uri="{BB962C8B-B14F-4D97-AF65-F5344CB8AC3E}">
        <p14:creationId xmlns:p14="http://schemas.microsoft.com/office/powerpoint/2010/main" val="1992556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  <a:noFill/>
        </p:spPr>
        <p:txBody>
          <a:bodyPr anchor="t" anchorCtr="0"/>
          <a:lstStyle/>
          <a:p>
            <a:r>
              <a:rPr lang="en-US" dirty="0"/>
              <a:t>Live Demo</a:t>
            </a:r>
            <a:br>
              <a:rPr lang="en-US" dirty="0"/>
            </a:br>
            <a:r>
              <a:rPr lang="en-US" sz="2000" dirty="0"/>
              <a:t>How the Model Works in Real 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075470"/>
            <a:ext cx="4663440" cy="393192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r>
              <a:rPr lang="en-US" dirty="0"/>
              <a:t>Input: Handwritten digit on white paper (photo/scan)</a:t>
            </a:r>
          </a:p>
          <a:p>
            <a:r>
              <a:rPr lang="en-US" dirty="0"/>
              <a:t>Pipeline:</a:t>
            </a:r>
          </a:p>
          <a:p>
            <a:pPr>
              <a:buFont typeface="+mj-lt"/>
              <a:buAutoNum type="arabicPeriod"/>
            </a:pPr>
            <a:r>
              <a:rPr lang="en-US" dirty="0"/>
              <a:t>Image captured → Preprocessing applied</a:t>
            </a:r>
          </a:p>
          <a:p>
            <a:pPr>
              <a:buFont typeface="+mj-lt"/>
              <a:buAutoNum type="arabicPeriod"/>
            </a:pPr>
            <a:r>
              <a:rPr lang="en-US" dirty="0"/>
              <a:t>Resized to 96×96 → Fed to MobileNetV2</a:t>
            </a:r>
          </a:p>
          <a:p>
            <a:pPr>
              <a:buFont typeface="+mj-lt"/>
              <a:buAutoNum type="arabicPeriod"/>
            </a:pPr>
            <a:r>
              <a:rPr lang="en-US" dirty="0"/>
              <a:t>Model outputs probability for each digit </a:t>
            </a:r>
            <a:r>
              <a:rPr lang="mr-IN" dirty="0"/>
              <a:t>०–९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Highest probability = Predicted digit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011680"/>
            <a:ext cx="4663440" cy="3931920"/>
          </a:xfrm>
          <a:solidFill>
            <a:schemeClr val="accent4"/>
          </a:solidFill>
        </p:spPr>
        <p:txBody>
          <a:bodyPr vert="horz" lIns="365760" tIns="365760" rIns="365760" bIns="365760" rtlCol="0" anchor="t">
            <a:normAutofit lnSpcReduction="10000"/>
          </a:bodyPr>
          <a:lstStyle/>
          <a:p>
            <a:r>
              <a:rPr lang="en-IN" dirty="0"/>
              <a:t>Our Test Result:</a:t>
            </a:r>
          </a:p>
          <a:p>
            <a:r>
              <a:rPr lang="en-US" sz="1400" dirty="0"/>
              <a:t>Predicted Digit : ८ </a:t>
            </a:r>
            <a:br>
              <a:rPr lang="en-US" sz="1400" dirty="0"/>
            </a:br>
            <a:r>
              <a:rPr lang="en-US" sz="1400" dirty="0"/>
              <a:t>Confidence : 86.20% </a:t>
            </a:r>
            <a:br>
              <a:rPr lang="en-US" sz="1400" dirty="0"/>
            </a:br>
            <a:r>
              <a:rPr lang="en-US" sz="1400" dirty="0"/>
              <a:t>Top 3 Predictions:</a:t>
            </a:r>
            <a:br>
              <a:rPr lang="en-US" sz="1400" dirty="0"/>
            </a:br>
            <a:r>
              <a:rPr lang="en-US" sz="1400" dirty="0"/>
              <a:t>1. ८ → 86.20% </a:t>
            </a:r>
            <a:br>
              <a:rPr lang="en-US" sz="1400" dirty="0"/>
            </a:br>
            <a:r>
              <a:rPr lang="en-US" sz="1400" dirty="0"/>
              <a:t>2. ९ → 10.24% </a:t>
            </a:r>
            <a:br>
              <a:rPr lang="en-US" sz="1400" dirty="0"/>
            </a:br>
            <a:r>
              <a:rPr lang="en-US" sz="1400" dirty="0"/>
              <a:t>3. १ → 1.17%</a:t>
            </a:r>
          </a:p>
          <a:p>
            <a:endParaRPr lang="en-US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5F4AB0DF-0F57-F6DC-0431-845DD3F9AF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360" y="4129776"/>
            <a:ext cx="4724398" cy="1630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512891"/>
            <a:ext cx="10241280" cy="1541206"/>
          </a:xfrm>
          <a:noFill/>
        </p:spPr>
        <p:txBody>
          <a:bodyPr anchor="b" anchorCtr="0"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3"/>
            <a:ext cx="8046720" cy="1643167"/>
          </a:xfrm>
          <a:noFill/>
        </p:spPr>
        <p:txBody>
          <a:bodyPr>
            <a:normAutofit/>
          </a:bodyPr>
          <a:lstStyle/>
          <a:p>
            <a:r>
              <a:rPr lang="en-US" dirty="0"/>
              <a:t>Transfer learning works excellently on small datasets</a:t>
            </a:r>
          </a:p>
          <a:p>
            <a:r>
              <a:rPr lang="en-US" dirty="0"/>
              <a:t>Preprocessing was the most critical step</a:t>
            </a:r>
          </a:p>
          <a:p>
            <a:r>
              <a:rPr lang="en-US" dirty="0"/>
              <a:t>90% accuracy with only 80 training images per class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32D43-FEA1-CB77-3E64-DBAB84FA2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5B00-7889-D892-AD0D-6E1606FA8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1178594"/>
            <a:ext cx="10241280" cy="1541206"/>
          </a:xfrm>
          <a:noFill/>
        </p:spPr>
        <p:txBody>
          <a:bodyPr anchor="b" anchorCtr="0"/>
          <a:lstStyle/>
          <a:p>
            <a:r>
              <a:rPr lang="en-IN" dirty="0"/>
              <a:t>Future Work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494AA4-C7DD-41D0-DC1B-281C3163E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429001"/>
            <a:ext cx="8046720" cy="2018070"/>
          </a:xfrm>
          <a:noFill/>
        </p:spPr>
        <p:txBody>
          <a:bodyPr>
            <a:normAutofit/>
          </a:bodyPr>
          <a:lstStyle/>
          <a:p>
            <a:r>
              <a:rPr lang="en-US" dirty="0"/>
              <a:t>Expand to full 48-character Marathi alphabet</a:t>
            </a:r>
          </a:p>
          <a:p>
            <a:r>
              <a:rPr lang="en-US" dirty="0"/>
              <a:t>Collect more diverse data</a:t>
            </a:r>
          </a:p>
          <a:p>
            <a:r>
              <a:rPr lang="en-US" dirty="0"/>
              <a:t>Build a TensorFlow Lite mobile app</a:t>
            </a:r>
          </a:p>
          <a:p>
            <a:r>
              <a:rPr lang="en-US" dirty="0"/>
              <a:t>Try Vision Transformers (</a:t>
            </a:r>
            <a:r>
              <a:rPr lang="en-US" dirty="0" err="1"/>
              <a:t>ViT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15535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E39FA-84F2-3624-49D6-32B9E0363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861" y="3387508"/>
            <a:ext cx="5048275" cy="2322576"/>
          </a:xfrm>
          <a:noFill/>
        </p:spPr>
        <p:txBody>
          <a:bodyPr bIns="0" anchor="ctr" anchorCtr="0"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sz="200" cap="none" dirty="0">
                <a:latin typeface="Aptos" panose="020B0004020202020204" pitchFamily="34" charset="0"/>
                <a:cs typeface="Arial" panose="020B0604020202020204" pitchFamily="34" charset="0"/>
                <a:hlinkClick r:id="rId2"/>
              </a:rPr>
              <a:t>https://github.com/ajaygande/handwritten-marathi-digit-recognition-using-convolutional-neural-networks-and-transfer-learning./blob/main/handwritten_marathi_digits_cnn_portfolio.ipynb</a:t>
            </a:r>
            <a:r>
              <a:rPr lang="en-US" sz="200" cap="none" dirty="0">
                <a:latin typeface="Aptos" panose="020B0004020202020204" pitchFamily="34" charset="0"/>
                <a:cs typeface="Arial" panose="020B0604020202020204" pitchFamily="34" charset="0"/>
              </a:rPr>
              <a:t>  </a:t>
            </a:r>
            <a:endParaRPr lang="en-US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4BCD3-171F-C06E-AC4E-108832525DF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 anchorCtr="0"/>
          <a:lstStyle/>
          <a:p>
            <a:r>
              <a:rPr lang="en-US" dirty="0"/>
              <a:t>Ajay Gande | </a:t>
            </a:r>
            <a:r>
              <a:rPr lang="en-US" cap="none" dirty="0">
                <a:hlinkClick r:id="rId3"/>
              </a:rPr>
              <a:t>ajaygande1@gmail.com</a:t>
            </a:r>
            <a:r>
              <a:rPr lang="en-US" cap="none" dirty="0"/>
              <a:t> </a:t>
            </a:r>
            <a:r>
              <a:rPr lang="en-US" dirty="0"/>
              <a:t>| </a:t>
            </a:r>
            <a:r>
              <a:rPr lang="en-US" cap="none" dirty="0">
                <a:hlinkClick r:id="rId4"/>
              </a:rPr>
              <a:t>https://github.com/ajaygande</a:t>
            </a:r>
            <a:br>
              <a:rPr lang="en-US" cap="none" dirty="0"/>
            </a:br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BBC1291-3F33-4328-0F96-0A7F94C0FC5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t="2806" b="2806"/>
          <a:stretch/>
        </p:blipFill>
        <p:spPr>
          <a:xfrm>
            <a:off x="4772332" y="516489"/>
            <a:ext cx="2647335" cy="264733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875227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{5BD99875-AA58-4308-AC55-450BF2977F49}TF51de1e5f-e0e8-4dd0-99f3-5b7584f7abdc7d30e886_win32-78d4aef5ad8e</Template>
  <TotalTime>216</TotalTime>
  <Words>547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Courier New</vt:lpstr>
      <vt:lpstr>Daytona Condensed Light</vt:lpstr>
      <vt:lpstr>Daytona Condensed Light (Body)</vt:lpstr>
      <vt:lpstr>Posterama</vt:lpstr>
      <vt:lpstr>Custom</vt:lpstr>
      <vt:lpstr>Handwritten Marathi Digit Recognition Using CNN And Transfer Learning With MobileNetV2</vt:lpstr>
      <vt:lpstr>Problem Statement</vt:lpstr>
      <vt:lpstr>Dataset</vt:lpstr>
      <vt:lpstr>Image Preprocessing</vt:lpstr>
      <vt:lpstr>Model Architecture</vt:lpstr>
      <vt:lpstr>Two-Phase Training Strategy</vt:lpstr>
      <vt:lpstr>Results</vt:lpstr>
      <vt:lpstr>Confusion Matrix</vt:lpstr>
      <vt:lpstr>Live Demo How the Model Works in Real Time</vt:lpstr>
      <vt:lpstr>Conclusion</vt:lpstr>
      <vt:lpstr>Future Work</vt:lpstr>
      <vt:lpstr>Thank you https://github.com/ajaygande/handwritten-marathi-digit-recognition-using-convolutional-neural-networks-and-transfer-learning./blob/main/handwritten_marathi_digits_cnn_portfolio.ipynb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Gande</dc:creator>
  <cp:lastModifiedBy>Ajay Gande</cp:lastModifiedBy>
  <cp:revision>5</cp:revision>
  <dcterms:created xsi:type="dcterms:W3CDTF">2026-05-15T15:21:34Z</dcterms:created>
  <dcterms:modified xsi:type="dcterms:W3CDTF">2026-05-16T06:12:48Z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